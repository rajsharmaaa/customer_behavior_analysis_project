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6256000" cy="9144000"/>
  <p:notesSz cx="9144000" cy="16256000"/>
  <p:embeddedFontLst>
    <p:embeddedFont>
      <p:font typeface="Liter" charset="-122" pitchFamily="34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($K)</c:v>
                </c:pt>
              </c:strCache>
            </c:strRef>
          </c:tx>
          <c:spPr>
            <a:solidFill>
              <a:srgbClr val="0D8B7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Electronics</c:v>
                  </c:pt>
                  <c:pt idx="1">
                    <c:v>Accessories</c:v>
                  </c:pt>
                  <c:pt idx="2">
                    <c:v>Clothing</c:v>
                  </c:pt>
                  <c:pt idx="3">
                    <c:v>Footwear</c:v>
                  </c:pt>
                  <c:pt idx="4">
                    <c:v>Outerwear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486</c:v>
                </c:pt>
                <c:pt idx="1">
                  <c:v>210</c:v>
                </c:pt>
                <c:pt idx="2">
                  <c:v>155</c:v>
                </c:pt>
                <c:pt idx="3">
                  <c:v>95</c:v>
                </c:pt>
                <c:pt idx="4">
                  <c:v>48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2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DDDDD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12700" cap="flat">
              <a:solidFill>
                <a:srgbClr val="E0E6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rgbClr val="0D8B7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Loyal Customers</c:v>
                  </c:pt>
                  <c:pt idx="1">
                    <c:v>Returning Customers</c:v>
                  </c:pt>
                  <c:pt idx="2">
                    <c:v>New Customers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3085</c:v>
                </c:pt>
                <c:pt idx="1">
                  <c:v>1354</c:v>
                </c:pt>
                <c:pt idx="2">
                  <c:v>561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DDDDD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12700" cap="flat">
              <a:solidFill>
                <a:srgbClr val="E0E6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($K)</c:v>
                </c:pt>
              </c:strCache>
            </c:strRef>
          </c:tx>
          <c:spPr>
            <a:solidFill>
              <a:srgbClr val="0D8B7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18-25</c:v>
                  </c:pt>
                  <c:pt idx="1">
                    <c:v>26-35</c:v>
                  </c:pt>
                  <c:pt idx="2">
                    <c:v>36-50</c:v>
                  </c:pt>
                  <c:pt idx="3">
                    <c:v>51+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151</c:v>
                </c:pt>
                <c:pt idx="1">
                  <c:v>177</c:v>
                </c:pt>
                <c:pt idx="2">
                  <c:v>267</c:v>
                </c:pt>
                <c:pt idx="3">
                  <c:v>399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DDDDD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12700" cap="flat">
              <a:solidFill>
                <a:srgbClr val="E0E6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($K)</c:v>
                </c:pt>
              </c:strCache>
            </c:strRef>
          </c:tx>
          <c:spPr>
            <a:solidFill>
              <a:srgbClr val="0D8B7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Spring</c:v>
                  </c:pt>
                  <c:pt idx="1">
                    <c:v>Summer</c:v>
                  </c:pt>
                  <c:pt idx="2">
                    <c:v>Winter</c:v>
                  </c:pt>
                  <c:pt idx="3">
                    <c:v>Autumn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244</c:v>
                </c:pt>
                <c:pt idx="1">
                  <c:v>198</c:v>
                </c:pt>
                <c:pt idx="2">
                  <c:v>185</c:v>
                </c:pt>
                <c:pt idx="3">
                  <c:v>68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DDDDD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eeeee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9999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8B7D"/>
              </a:solidFill>
              <a:effectLst/>
            </c:spPr>
          </c:dPt>
          <c:dPt>
            <c:idx val="1"/>
            <c:bubble3D val="0"/>
            <c:spPr>
              <a:solidFill>
                <a:srgbClr val="66B2A8"/>
              </a:solidFill>
              <a:effectLst/>
            </c:spPr>
          </c:dPt>
          <c:dPt>
            <c:idx val="2"/>
            <c:bubble3D val="0"/>
            <c:spPr>
              <a:solidFill>
                <a:srgbClr val="B8DDD8"/>
              </a:solidFill>
              <a:effectLst/>
            </c:spPr>
          </c:dPt>
          <c:dPt>
            <c:idx val="3"/>
            <c:bubble3D val="0"/>
            <c:spPr>
              <a:solidFill>
                <a:srgbClr val="1A1A2E"/>
              </a:solidFill>
              <a:effectLst/>
            </c:spPr>
          </c:dPt>
          <c:dPt>
            <c:idx val="4"/>
            <c:bubble3D val="0"/>
            <c:spPr>
              <a:solidFill>
                <a:srgbClr val="999999"/>
              </a:solidFill>
              <a:effectLst/>
            </c:spPr>
          </c:dPt>
          <c:dPt>
            <c:idx val="5"/>
            <c:bubble3D val="0"/>
            <c:spPr>
              <a:solidFill>
                <a:srgbClr val="CCCCCC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Debit Card</c:v>
                </c:pt>
                <c:pt idx="1">
                  <c:v>Cash</c:v>
                </c:pt>
                <c:pt idx="2">
                  <c:v>Credit Card</c:v>
                </c:pt>
                <c:pt idx="3">
                  <c:v>PayPal</c:v>
                </c:pt>
                <c:pt idx="4">
                  <c:v>Venmo</c:v>
                </c:pt>
                <c:pt idx="5">
                  <c:v>Bank Transfer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25.47</c:v>
                </c:pt>
                <c:pt idx="1">
                  <c:v>23.48</c:v>
                </c:pt>
                <c:pt idx="2">
                  <c:v>22.68</c:v>
                </c:pt>
                <c:pt idx="3">
                  <c:v>20.88</c:v>
                </c:pt>
                <c:pt idx="4">
                  <c:v>3.8</c:v>
                </c:pt>
                <c:pt idx="5">
                  <c:v>3.7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($K)</c:v>
                </c:pt>
              </c:strCache>
            </c:strRef>
          </c:tx>
          <c:spPr>
            <a:solidFill>
              <a:srgbClr val="0D8B7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Male</c:v>
                  </c:pt>
                  <c:pt idx="1">
                    <c:v>Female</c:v>
                  </c:pt>
                  <c:pt idx="2">
                    <c:v>Other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391</c:v>
                </c:pt>
                <c:pt idx="1">
                  <c:v>352</c:v>
                </c:pt>
                <c:pt idx="2">
                  <c:v>251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DDDDD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12700" cap="flat">
              <a:solidFill>
                <a:srgbClr val="E0E6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76200"/>
          </a:xfrm>
          <a:prstGeom prst="rect">
            <a:avLst/>
          </a:prstGeom>
          <a:solidFill>
            <a:srgbClr val="0D8B7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6200"/>
            <a:ext cx="8128000" cy="9067800"/>
          </a:xfrm>
          <a:prstGeom prst="rect">
            <a:avLst/>
          </a:prstGeom>
          <a:solidFill>
            <a:srgbClr val="0D8B7D"/>
          </a:solidFill>
          <a:ln/>
        </p:spPr>
      </p:sp>
      <p:sp>
        <p:nvSpPr>
          <p:cNvPr id="4" name="Text 2"/>
          <p:cNvSpPr/>
          <p:nvPr/>
        </p:nvSpPr>
        <p:spPr>
          <a:xfrm>
            <a:off x="889000" y="2921000"/>
            <a:ext cx="6350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4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Customer Behaviour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4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Analysis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89000" y="4826000"/>
            <a:ext cx="635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Purchase Patterns, Segmentation &amp; Revenue Optimization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89000" y="5588000"/>
            <a:ext cx="1778000" cy="0"/>
          </a:xfrm>
          <a:prstGeom prst="straightConnector1">
            <a:avLst/>
          </a:prstGeom>
          <a:noFill/>
          <a:ln w="25400">
            <a:solidFill>
              <a:srgbClr val="FFFFFF">
                <a:alpha val="50196"/>
              </a:srgbClr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889000" y="5842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66667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Retail / E-commerce Dataset 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0" y="2540000"/>
            <a:ext cx="6096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600" b="1" dirty="0">
                <a:solidFill>
                  <a:srgbClr val="C0D0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INSIGHTS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668000" y="4064000"/>
            <a:ext cx="2540000" cy="0"/>
          </a:xfrm>
          <a:prstGeom prst="straightConnector1">
            <a:avLst/>
          </a:prstGeom>
          <a:noFill/>
          <a:ln w="25400">
            <a:solidFill>
              <a:srgbClr val="0D8B7D"/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9144000" y="4445000"/>
            <a:ext cx="6096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9999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Data-driven analysis exploring purchase patterns, customer segmentation, and revenue optimization through Python EDA, SQL, and Power BI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0D8B7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500"/>
            <a:ext cx="16256000" cy="762000"/>
          </a:xfrm>
          <a:prstGeom prst="rect">
            <a:avLst/>
          </a:prstGeom>
          <a:solidFill>
            <a:srgbClr val="0D8B7D"/>
          </a:solidFill>
          <a:ln/>
        </p:spPr>
      </p:sp>
      <p:sp>
        <p:nvSpPr>
          <p:cNvPr id="4" name="Text 2"/>
          <p:cNvSpPr/>
          <p:nvPr/>
        </p:nvSpPr>
        <p:spPr>
          <a:xfrm>
            <a:off x="635000" y="152400"/>
            <a:ext cx="139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Executive Overview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16000" y="1651000"/>
            <a:ext cx="635000" cy="635000"/>
          </a:xfrm>
          <a:prstGeom prst="ellipse">
            <a:avLst/>
          </a:prstGeom>
          <a:solidFill>
            <a:srgbClr val="0D8B7D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1651000"/>
            <a:ext cx="63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905000" y="1587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Dataset Overview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905000" y="20066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9999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Dataset characteristics, data dictionary, and field definitions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16000" y="2667000"/>
            <a:ext cx="14224000" cy="0"/>
          </a:xfrm>
          <a:prstGeom prst="straightConnector1">
            <a:avLst/>
          </a:prstGeom>
          <a:noFill/>
          <a:ln w="12700">
            <a:solidFill>
              <a:srgbClr val="DDDDDD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016000" y="3302000"/>
            <a:ext cx="635000" cy="635000"/>
          </a:xfrm>
          <a:prstGeom prst="ellipse">
            <a:avLst/>
          </a:prstGeom>
          <a:solidFill>
            <a:srgbClr val="0D8B7D"/>
          </a:solidFill>
          <a:ln/>
        </p:spPr>
      </p:sp>
      <p:sp>
        <p:nvSpPr>
          <p:cNvPr id="11" name="Text 9"/>
          <p:cNvSpPr/>
          <p:nvPr/>
        </p:nvSpPr>
        <p:spPr>
          <a:xfrm>
            <a:off x="1016000" y="3302000"/>
            <a:ext cx="63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905000" y="3238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Analysis &amp; Insights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905000" y="36576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9999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Revenue analysis, customer segmentation, and dashboard metrics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16000" y="4318000"/>
            <a:ext cx="14224000" cy="0"/>
          </a:xfrm>
          <a:prstGeom prst="straightConnector1">
            <a:avLst/>
          </a:prstGeom>
          <a:noFill/>
          <a:ln w="12700">
            <a:solidFill>
              <a:srgbClr val="DDDDDD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1016000" y="4953000"/>
            <a:ext cx="635000" cy="635000"/>
          </a:xfrm>
          <a:prstGeom prst="ellipse">
            <a:avLst/>
          </a:prstGeom>
          <a:solidFill>
            <a:srgbClr val="0D8B7D"/>
          </a:solidFill>
          <a:ln/>
        </p:spPr>
      </p:sp>
      <p:sp>
        <p:nvSpPr>
          <p:cNvPr id="16" name="Text 14"/>
          <p:cNvSpPr/>
          <p:nvPr/>
        </p:nvSpPr>
        <p:spPr>
          <a:xfrm>
            <a:off x="1016000" y="4953000"/>
            <a:ext cx="63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905000" y="4889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905000" y="53086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9999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Strategic insights and actionable recommendations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0" y="9067800"/>
            <a:ext cx="16256000" cy="76200"/>
          </a:xfrm>
          <a:prstGeom prst="rect">
            <a:avLst/>
          </a:prstGeom>
          <a:solidFill>
            <a:srgbClr val="0D8B7D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1600" cy="9144000"/>
          </a:xfrm>
          <a:prstGeom prst="rect">
            <a:avLst/>
          </a:prstGeom>
          <a:solidFill>
            <a:srgbClr val="0D8B7D"/>
          </a:solidFill>
          <a:ln/>
        </p:spPr>
      </p:sp>
      <p:sp>
        <p:nvSpPr>
          <p:cNvPr id="3" name="Text 1"/>
          <p:cNvSpPr/>
          <p:nvPr/>
        </p:nvSpPr>
        <p:spPr>
          <a:xfrm>
            <a:off x="1016000" y="3048000"/>
            <a:ext cx="25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0D8B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16000" y="4191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0D8B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Dataset Overview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16000" y="5080000"/>
            <a:ext cx="2540000" cy="0"/>
          </a:xfrm>
          <a:prstGeom prst="straightConnector1">
            <a:avLst/>
          </a:prstGeom>
          <a:noFill/>
          <a:ln w="25400">
            <a:solidFill>
              <a:srgbClr val="E8B44A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1016000" y="5334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9999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Understanding the data foundation for customer behavior analysis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0D8B7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500"/>
            <a:ext cx="16256000" cy="762000"/>
          </a:xfrm>
          <a:prstGeom prst="rect">
            <a:avLst/>
          </a:prstGeom>
          <a:solidFill>
            <a:srgbClr val="0D8B7D"/>
          </a:solidFill>
          <a:ln/>
        </p:spPr>
      </p:sp>
      <p:sp>
        <p:nvSpPr>
          <p:cNvPr id="4" name="Text 2"/>
          <p:cNvSpPr/>
          <p:nvPr/>
        </p:nvSpPr>
        <p:spPr>
          <a:xfrm>
            <a:off x="635000" y="152400"/>
            <a:ext cx="1397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Structured retail/e-commerce dataset capturing 5,000 customer transactions for behavior analysis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35000" y="1079500"/>
            <a:ext cx="4699000" cy="30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5000" y="1079500"/>
            <a:ext cx="4699000" cy="63500"/>
          </a:xfrm>
          <a:prstGeom prst="rect">
            <a:avLst/>
          </a:prstGeom>
          <a:solidFill>
            <a:srgbClr val="0D8B7D"/>
          </a:solidFill>
          <a:ln/>
        </p:spPr>
      </p:sp>
      <p:sp>
        <p:nvSpPr>
          <p:cNvPr id="7" name="Text 5"/>
          <p:cNvSpPr/>
          <p:nvPr/>
        </p:nvSpPr>
        <p:spPr>
          <a:xfrm>
            <a:off x="889000" y="1270000"/>
            <a:ext cx="419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D8B7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Data Mix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89000" y="1714500"/>
            <a:ext cx="4191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Numerical Fields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89000" y="2032000"/>
            <a:ext cx="419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Age, Purchase Amount, Previous Purchases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89000" y="2667000"/>
            <a:ext cx="4191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Categorical Fields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89000" y="2984500"/>
            <a:ext cx="419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Category, Payment Method, Season, Gender, Subscription Status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715000" y="1079500"/>
            <a:ext cx="4699000" cy="30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15000" y="1079500"/>
            <a:ext cx="4699000" cy="63500"/>
          </a:xfrm>
          <a:prstGeom prst="rect">
            <a:avLst/>
          </a:prstGeom>
          <a:solidFill>
            <a:srgbClr val="0D8B7D"/>
          </a:solidFill>
          <a:ln/>
        </p:spPr>
      </p:sp>
      <p:sp>
        <p:nvSpPr>
          <p:cNvPr id="14" name="Text 12"/>
          <p:cNvSpPr/>
          <p:nvPr/>
        </p:nvSpPr>
        <p:spPr>
          <a:xfrm>
            <a:off x="5969000" y="1270000"/>
            <a:ext cx="419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D8B7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Dataset Attributes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69000" y="1714500"/>
          <a:ext cx="4191000" cy="2159000"/>
        </p:xfrm>
        <a:graphic>
          <a:graphicData uri="http://schemas.openxmlformats.org/drawingml/2006/table">
            <a:tbl>
              <a:tblPr/>
              <a:tblGrid>
                <a:gridCol w="1466850"/>
                <a:gridCol w="2724150"/>
              </a:tblGrid>
              <a:tr h="539750">
                <a:tc>
                  <a:txBody>
                    <a:bodyPr/>
                    <a:lstStyle/>
                    <a:p>
                      <a:pPr algn="l"/>
                      <a:r>
                        <a:rPr lang="en-US" sz="13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Type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8B7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Retail / E-commerce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8B7D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Level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Customer Transaction Level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Nature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Structured (Tabular)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Size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5,000 customer records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10795000" y="1079500"/>
            <a:ext cx="4826000" cy="30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0795000" y="1079500"/>
            <a:ext cx="4826000" cy="63500"/>
          </a:xfrm>
          <a:prstGeom prst="rect">
            <a:avLst/>
          </a:prstGeom>
          <a:solidFill>
            <a:srgbClr val="0D8B7D"/>
          </a:solidFill>
          <a:ln/>
        </p:spPr>
      </p:sp>
      <p:sp>
        <p:nvSpPr>
          <p:cNvPr id="18" name="Text 15"/>
          <p:cNvSpPr/>
          <p:nvPr/>
        </p:nvSpPr>
        <p:spPr>
          <a:xfrm>
            <a:off x="11049000" y="1270000"/>
            <a:ext cx="431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D8B7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Why This Data Matters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1049000" y="1714500"/>
            <a:ext cx="4318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0D8B7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Identify frequent buyers vs. one-time purchasers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0D8B7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Understand purchase patterns and behaviors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0D8B7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Optimize discount and promo strategies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0D8B7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Increase Customer Lifetime Value (CLV)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35000" y="4445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Business Problems to Solve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635000" y="4851400"/>
            <a:ext cx="14986000" cy="0"/>
          </a:xfrm>
          <a:prstGeom prst="straightConnector1">
            <a:avLst/>
          </a:prstGeom>
          <a:noFill/>
          <a:ln w="12700">
            <a:solidFill>
              <a:srgbClr val="DDDDDD"/>
            </a:solidFill>
            <a:prstDash val="solid"/>
            <a:headEnd type="none"/>
            <a:tailEnd type="none"/>
          </a:ln>
        </p:spPr>
      </p:sp>
      <p:sp>
        <p:nvSpPr>
          <p:cNvPr id="22" name="Text 19"/>
          <p:cNvSpPr/>
          <p:nvPr/>
        </p:nvSpPr>
        <p:spPr>
          <a:xfrm>
            <a:off x="635000" y="5016500"/>
            <a:ext cx="7239000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400" b="1" dirty="0">
                <a:solidFill>
                  <a:srgbClr val="0D8B7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Customer Retention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Who are frequent buyers vs. one-time buyers? How can we improve retention rates?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400" b="1" dirty="0">
                <a:solidFill>
                  <a:srgbClr val="0D8B7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Marketing Effectiveness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Do discounts increase purchases? Which customers respond to promo codes?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400" b="1" dirty="0">
                <a:solidFill>
                  <a:srgbClr val="0D8B7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Product Demand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Which category performs best? Which products generate the highest revenue?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8382000" y="5016500"/>
            <a:ext cx="7239000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400" b="1" dirty="0">
                <a:solidFill>
                  <a:srgbClr val="0D8B7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Payment Behavior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Which payment methods are preferred? Are digital payments increasing?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400" b="1" dirty="0">
                <a:solidFill>
                  <a:srgbClr val="0D8B7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Seasonal Trends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Does season impact sales? Which season drives maximum purchases?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400" b="1" dirty="0">
                <a:solidFill>
                  <a:srgbClr val="0D8B7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Customer Segmentation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Identify high-value, frequent, and discount-sensitive customers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635000" y="8382000"/>
            <a:ext cx="14986000" cy="0"/>
          </a:xfrm>
          <a:prstGeom prst="straightConnector1">
            <a:avLst/>
          </a:prstGeom>
          <a:noFill/>
          <a:ln w="12700">
            <a:solidFill>
              <a:srgbClr val="DDDDDD"/>
            </a:solidFill>
            <a:prstDash val="solid"/>
            <a:headEnd type="none"/>
            <a:tailEnd type="none"/>
          </a:ln>
        </p:spPr>
      </p:sp>
      <p:sp>
        <p:nvSpPr>
          <p:cNvPr id="25" name="Text 22"/>
          <p:cNvSpPr/>
          <p:nvPr/>
        </p:nvSpPr>
        <p:spPr>
          <a:xfrm>
            <a:off x="635000" y="8483600"/>
            <a:ext cx="762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9999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Source: Customer Behaviour Analysis Dataset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0D8B7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500"/>
            <a:ext cx="16256000" cy="762000"/>
          </a:xfrm>
          <a:prstGeom prst="rect">
            <a:avLst/>
          </a:prstGeom>
          <a:solidFill>
            <a:srgbClr val="0D8B7D"/>
          </a:solidFill>
          <a:ln/>
        </p:spPr>
      </p:sp>
      <p:sp>
        <p:nvSpPr>
          <p:cNvPr id="4" name="Text 2"/>
          <p:cNvSpPr/>
          <p:nvPr/>
        </p:nvSpPr>
        <p:spPr>
          <a:xfrm>
            <a:off x="635000" y="152400"/>
            <a:ext cx="1397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15 data fields enable comprehensive analysis of customer purchase behavior and preferences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000" y="1079500"/>
          <a:ext cx="14986000" cy="7112000"/>
        </p:xfrm>
        <a:graphic>
          <a:graphicData uri="http://schemas.openxmlformats.org/drawingml/2006/table">
            <a:tbl>
              <a:tblPr/>
              <a:tblGrid>
                <a:gridCol w="3296920"/>
                <a:gridCol w="5694680"/>
                <a:gridCol w="2997200"/>
                <a:gridCol w="2997200"/>
              </a:tblGrid>
              <a:tr h="455573">
                <a:tc>
                  <a:txBody>
                    <a:bodyPr/>
                    <a:lstStyle/>
                    <a:p>
                      <a:pPr algn="l"/>
                      <a:r>
                        <a:rPr lang="en-US" sz="13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Field Name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8B7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Description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8B7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Type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8B7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Example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8B7D"/>
                    </a:solidFill>
                  </a:tcPr>
                </a:tc>
              </a:tr>
              <a:tr h="442918"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Customer ID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Unique identifier for each customer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Integer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1001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2918"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Age / Gender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Customer demographics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Numeric / Categorical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35 / Male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42918"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Item Purchased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Product name bought by customer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Categorical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Shirt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2918"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Category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Product category (Clothing, Electronics, etc.)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Categorical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Clothing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42918"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Purchase Amount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Amount spent by the customer ($)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Numeric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150.50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2918"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Location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Customer's geographic location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Categorical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New York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42918"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Size / Color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Product size (S, M, L) and color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Categorical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 / Blue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2918"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Season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Season of purchase (Winter, Summer, etc.)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Categorical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Spring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42918"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Review Rating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Customer rating for the product (1-5)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Numeric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4.2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2918"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Subscription Status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Whether customer is subscribed (Yes/No)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Binary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Yes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42918"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Shipping Type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Type of shipping selected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Categorical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Standard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2918"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Discount Applied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Whether discount was applied (Yes/No)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Binary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Yes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42918"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Previous Purchases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Number of past purchases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Numeric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12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2918"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Payment Method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Mode of payment used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Categorical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Credit Card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55573"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Frequency of Purchases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Purchase frequency (Weekly, Monthly, etc.)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Categorical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Monthly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35000" y="8382000"/>
            <a:ext cx="762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9999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Source: Customer Behaviour Analysis Dataset — Data Dictionary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1600" cy="9144000"/>
          </a:xfrm>
          <a:prstGeom prst="rect">
            <a:avLst/>
          </a:prstGeom>
          <a:solidFill>
            <a:srgbClr val="0D8B7D"/>
          </a:solidFill>
          <a:ln/>
        </p:spPr>
      </p:sp>
      <p:sp>
        <p:nvSpPr>
          <p:cNvPr id="3" name="Text 1"/>
          <p:cNvSpPr/>
          <p:nvPr/>
        </p:nvSpPr>
        <p:spPr>
          <a:xfrm>
            <a:off x="1016000" y="3048000"/>
            <a:ext cx="25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0D8B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16000" y="4191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0D8B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Analysis &amp; Insights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16000" y="5080000"/>
            <a:ext cx="2540000" cy="0"/>
          </a:xfrm>
          <a:prstGeom prst="straightConnector1">
            <a:avLst/>
          </a:prstGeom>
          <a:noFill/>
          <a:ln w="25400">
            <a:solidFill>
              <a:srgbClr val="E8B44A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1016000" y="53340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9999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Data-driven findings from Python EDA, SQL analysis, and Power BI dashboards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0D8B7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500"/>
            <a:ext cx="16256000" cy="762000"/>
          </a:xfrm>
          <a:prstGeom prst="rect">
            <a:avLst/>
          </a:prstGeom>
          <a:solidFill>
            <a:srgbClr val="0D8B7D"/>
          </a:solidFill>
          <a:ln/>
        </p:spPr>
      </p:sp>
      <p:sp>
        <p:nvSpPr>
          <p:cNvPr id="4" name="Text 2"/>
          <p:cNvSpPr/>
          <p:nvPr/>
        </p:nvSpPr>
        <p:spPr>
          <a:xfrm>
            <a:off x="635000" y="152400"/>
            <a:ext cx="1397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Electronics leads at $486K revenue; discounts drive 20% higher average order value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35000" y="1016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Revenue by Category</a:t>
            </a:r>
            <a:endParaRPr lang="en-US" sz="16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35000" y="1422400"/>
          <a:ext cx="6858000" cy="355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635000" y="5207000"/>
            <a:ext cx="685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D8B7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Key SQL Findings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35000" y="5651500"/>
            <a:ext cx="68580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0D8B7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Electronics leads revenue at </a:t>
            </a:r>
            <a:pPr>
              <a:lnSpc>
                <a:spcPct val="160000"/>
              </a:lnSpc>
            </a:pPr>
            <a:r>
              <a:rPr lang="en-US" sz="14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$486K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— more than 3x the next category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0D8B7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Discounts increase avg. purchase: </a:t>
            </a:r>
            <a:pPr>
              <a:lnSpc>
                <a:spcPct val="160000"/>
              </a:lnSpc>
            </a:pPr>
            <a:r>
              <a:rPr lang="en-US" sz="14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$219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(discounted) vs. </a:t>
            </a:r>
            <a:pPr>
              <a:lnSpc>
                <a:spcPct val="160000"/>
              </a:lnSpc>
            </a:pPr>
            <a:r>
              <a:rPr lang="en-US" sz="14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$182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(no discount)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0D8B7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Subscribers spend </a:t>
            </a:r>
            <a:pPr>
              <a:lnSpc>
                <a:spcPct val="160000"/>
              </a:lnSpc>
            </a:pPr>
            <a:r>
              <a:rPr lang="en-US" sz="14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63% more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: $270.58 avg vs. $165.72 for non-subscribers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0D8B7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Gender revenue split: Male </a:t>
            </a:r>
            <a:pPr>
              <a:lnSpc>
                <a:spcPct val="160000"/>
              </a:lnSpc>
            </a:pPr>
            <a:r>
              <a:rPr lang="en-US" sz="14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$391K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· Female </a:t>
            </a:r>
            <a:pPr>
              <a:lnSpc>
                <a:spcPct val="160000"/>
              </a:lnSpc>
            </a:pPr>
            <a:r>
              <a:rPr lang="en-US" sz="14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$352K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· Other </a:t>
            </a:r>
            <a:pPr>
              <a:lnSpc>
                <a:spcPct val="160000"/>
              </a:lnSpc>
            </a:pPr>
            <a:r>
              <a:rPr lang="en-US" sz="14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$251K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01000" y="1016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Revenue &amp; Discount Impact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01000" y="1422400"/>
          <a:ext cx="7620000" cy="3556000"/>
        </p:xfrm>
        <a:graphic>
          <a:graphicData uri="http://schemas.openxmlformats.org/drawingml/2006/table">
            <a:tbl>
              <a:tblPr/>
              <a:tblGrid>
                <a:gridCol w="2667000"/>
                <a:gridCol w="1905000"/>
                <a:gridCol w="1524000"/>
                <a:gridCol w="1524000"/>
              </a:tblGrid>
              <a:tr h="573548">
                <a:tc>
                  <a:txBody>
                    <a:bodyPr/>
                    <a:lstStyle/>
                    <a:p>
                      <a:pPr algn="l"/>
                      <a:r>
                        <a:rPr lang="en-US" sz="13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Category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8B7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Revenue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8B7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Avg Order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8B7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Share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8B7D"/>
                    </a:solidFill>
                  </a:tcPr>
                </a:tc>
              </a:tr>
              <a:tr h="497075"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Electronics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0D8B7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$486K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$245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48.9%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7075"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Accessories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$210K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$178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21.1%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97075"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Clothing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$155K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$165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15.6%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7075"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Footwear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$95K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$152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9.6%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97075"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Outerwear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$48K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$138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4.8%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7075"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Total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$994K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$198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100%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8001000" y="5270500"/>
            <a:ext cx="7620000" cy="12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255000" y="5359400"/>
            <a:ext cx="711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0D8B7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Discount Strategy Impact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8255000" y="5715000"/>
            <a:ext cx="711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Discounted orders average 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$219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vs. 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$182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without discount — a 20% uplift. Target discount-sensitive segments strategically to maximize ROI.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635000" y="8382000"/>
            <a:ext cx="14986000" cy="0"/>
          </a:xfrm>
          <a:prstGeom prst="straightConnector1">
            <a:avLst/>
          </a:prstGeom>
          <a:noFill/>
          <a:ln w="12700">
            <a:solidFill>
              <a:srgbClr val="DDDDDD"/>
            </a:solidFill>
            <a:prstDash val="solid"/>
            <a:headEnd type="none"/>
            <a:tailEnd type="none"/>
          </a:ln>
        </p:spPr>
      </p:sp>
      <p:sp>
        <p:nvSpPr>
          <p:cNvPr id="15" name="Text 11"/>
          <p:cNvSpPr/>
          <p:nvPr/>
        </p:nvSpPr>
        <p:spPr>
          <a:xfrm>
            <a:off x="635000" y="8483600"/>
            <a:ext cx="762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9999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Source: SQL Analysis — Revenue &amp; Discounts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0D8B7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500"/>
            <a:ext cx="16256000" cy="762000"/>
          </a:xfrm>
          <a:prstGeom prst="rect">
            <a:avLst/>
          </a:prstGeom>
          <a:solidFill>
            <a:srgbClr val="0D8B7D"/>
          </a:solidFill>
          <a:ln/>
        </p:spPr>
      </p:sp>
      <p:sp>
        <p:nvSpPr>
          <p:cNvPr id="4" name="Text 2"/>
          <p:cNvSpPr/>
          <p:nvPr/>
        </p:nvSpPr>
        <p:spPr>
          <a:xfrm>
            <a:off x="635000" y="152400"/>
            <a:ext cx="1397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3,085 loyal customers drive repeat revenue; 51+ age group contributes $399K (40.2%)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35000" y="1016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Customer Segmentation</a:t>
            </a:r>
            <a:endParaRPr lang="en-US" sz="16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35000" y="1422400"/>
          <a:ext cx="6858000" cy="3175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635000" y="4724400"/>
            <a:ext cx="685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300" b="1" dirty="0">
                <a:solidFill>
                  <a:srgbClr val="0D8B7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Insight: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Loyal customers (5+ previous purchases) represent 61.7% of the customer base and drive the majority of repeat revenue.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001000" y="1016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Revenue by Age Group</a:t>
            </a:r>
            <a:endParaRPr lang="en-US" sz="1600" dirty="0"/>
          </a:p>
        </p:txBody>
      </p:sp>
      <p:graphicFrame>
        <p:nvGraphicFramePr>
          <p:cNvPr id="9" name="Chart 1" descr=""/>
          <p:cNvGraphicFramePr/>
          <p:nvPr/>
        </p:nvGraphicFramePr>
        <p:xfrm>
          <a:off x="8001000" y="1422400"/>
          <a:ext cx="7620000" cy="3175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 6"/>
          <p:cNvSpPr/>
          <p:nvPr/>
        </p:nvSpPr>
        <p:spPr>
          <a:xfrm>
            <a:off x="8001000" y="4724400"/>
            <a:ext cx="762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300" b="1" dirty="0">
                <a:solidFill>
                  <a:srgbClr val="0D8B7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Insight: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The 51+ age group generates 40.2% of total revenue ($399K), making it the highest-spending demographic by far.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635000" y="5461000"/>
            <a:ext cx="14986000" cy="0"/>
          </a:xfrm>
          <a:prstGeom prst="straightConnector1">
            <a:avLst/>
          </a:prstGeom>
          <a:noFill/>
          <a:ln w="12700">
            <a:solidFill>
              <a:srgbClr val="DDDDDD"/>
            </a:solidFill>
            <a:prstDash val="sysDot"/>
            <a:headEnd type="none"/>
            <a:tailEnd type="none"/>
          </a:ln>
        </p:spPr>
      </p:sp>
      <p:sp>
        <p:nvSpPr>
          <p:cNvPr id="12" name="Text 8"/>
          <p:cNvSpPr/>
          <p:nvPr/>
        </p:nvSpPr>
        <p:spPr>
          <a:xfrm>
            <a:off x="635000" y="5651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Subscription Analysis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35000" y="6096000"/>
            <a:ext cx="7239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0D8B7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Repeat buyers (5+ purchases) show strong subscription uptake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0D8B7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4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1,190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subscribed vs. </a:t>
            </a:r>
            <a:pPr>
              <a:lnSpc>
                <a:spcPct val="160000"/>
              </a:lnSpc>
            </a:pPr>
            <a:r>
              <a:rPr lang="en-US" sz="14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2,763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not subscribed among repeat buyers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0D8B7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Subscribers spend </a:t>
            </a:r>
            <a:pPr>
              <a:lnSpc>
                <a:spcPct val="160000"/>
              </a:lnSpc>
            </a:pPr>
            <a:r>
              <a:rPr lang="en-US" sz="14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63% more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on average: $270.58 vs. $165.72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8382000" y="6096000"/>
            <a:ext cx="7239000" cy="177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636000" y="6223000"/>
            <a:ext cx="673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0D8B7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Segmentation Logic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8636000" y="6604000"/>
            <a:ext cx="6731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Loyal: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5+ previous purchases (3,085 customers)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Returning: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2-4 previous purchases (1,354 customers)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New: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0-1 previous purchases (561 customers)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35000" y="8382000"/>
            <a:ext cx="14986000" cy="0"/>
          </a:xfrm>
          <a:prstGeom prst="straightConnector1">
            <a:avLst/>
          </a:prstGeom>
          <a:noFill/>
          <a:ln w="12700">
            <a:solidFill>
              <a:srgbClr val="DDDDDD"/>
            </a:solidFill>
            <a:prstDash val="solid"/>
            <a:headEnd type="none"/>
            <a:tailEnd type="none"/>
          </a:ln>
        </p:spPr>
      </p:sp>
      <p:sp>
        <p:nvSpPr>
          <p:cNvPr id="18" name="Text 14"/>
          <p:cNvSpPr/>
          <p:nvPr/>
        </p:nvSpPr>
        <p:spPr>
          <a:xfrm>
            <a:off x="635000" y="8483600"/>
            <a:ext cx="762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9999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Source: Customer Segmentation &amp; Age Insights Analysis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0D8B7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500"/>
            <a:ext cx="16256000" cy="762000"/>
          </a:xfrm>
          <a:prstGeom prst="rect">
            <a:avLst/>
          </a:prstGeom>
          <a:solidFill>
            <a:srgbClr val="0D8B7D"/>
          </a:solidFill>
          <a:ln/>
        </p:spPr>
      </p:sp>
      <p:sp>
        <p:nvSpPr>
          <p:cNvPr id="4" name="Text 2"/>
          <p:cNvSpPr/>
          <p:nvPr/>
        </p:nvSpPr>
        <p:spPr>
          <a:xfrm>
            <a:off x="635000" y="152400"/>
            <a:ext cx="139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5,000 customers generate $994K total spend with strong engagement metrics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35000" y="1079500"/>
            <a:ext cx="2794000" cy="2159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635000" y="1079500"/>
            <a:ext cx="2794000" cy="63500"/>
          </a:xfrm>
          <a:prstGeom prst="rect">
            <a:avLst/>
          </a:prstGeom>
          <a:solidFill>
            <a:srgbClr val="0D8B7D"/>
          </a:solidFill>
          <a:ln/>
        </p:spPr>
      </p:sp>
      <p:sp>
        <p:nvSpPr>
          <p:cNvPr id="7" name="Text 5"/>
          <p:cNvSpPr/>
          <p:nvPr/>
        </p:nvSpPr>
        <p:spPr>
          <a:xfrm>
            <a:off x="825500" y="1270000"/>
            <a:ext cx="2413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b="1" dirty="0">
                <a:solidFill>
                  <a:srgbClr val="0D8B7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5,000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5500" y="1968500"/>
            <a:ext cx="2413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Total Customers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5500" y="2311400"/>
            <a:ext cx="2413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999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Across all product categories and locations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746500" y="1079500"/>
            <a:ext cx="2794000" cy="2159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3746500" y="1079500"/>
            <a:ext cx="2794000" cy="63500"/>
          </a:xfrm>
          <a:prstGeom prst="rect">
            <a:avLst/>
          </a:prstGeom>
          <a:solidFill>
            <a:srgbClr val="0D8B7D"/>
          </a:solidFill>
          <a:ln/>
        </p:spPr>
      </p:sp>
      <p:sp>
        <p:nvSpPr>
          <p:cNvPr id="12" name="Text 10"/>
          <p:cNvSpPr/>
          <p:nvPr/>
        </p:nvSpPr>
        <p:spPr>
          <a:xfrm>
            <a:off x="3937000" y="1270000"/>
            <a:ext cx="2413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b="1" dirty="0">
                <a:solidFill>
                  <a:srgbClr val="0D8B7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$994K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937000" y="1968500"/>
            <a:ext cx="2413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Total Spend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937000" y="2311400"/>
            <a:ext cx="2413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999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Cumulative revenue from all transactions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858000" y="1079500"/>
            <a:ext cx="2794000" cy="2159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6858000" y="1079500"/>
            <a:ext cx="2794000" cy="63500"/>
          </a:xfrm>
          <a:prstGeom prst="rect">
            <a:avLst/>
          </a:prstGeom>
          <a:solidFill>
            <a:srgbClr val="0D8B7D"/>
          </a:solidFill>
          <a:ln/>
        </p:spPr>
      </p:sp>
      <p:sp>
        <p:nvSpPr>
          <p:cNvPr id="17" name="Text 15"/>
          <p:cNvSpPr/>
          <p:nvPr/>
        </p:nvSpPr>
        <p:spPr>
          <a:xfrm>
            <a:off x="7048500" y="1270000"/>
            <a:ext cx="2413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b="1" dirty="0">
                <a:solidFill>
                  <a:srgbClr val="0D8B7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$198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048500" y="1968500"/>
            <a:ext cx="2413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Avg. Spend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048500" y="2311400"/>
            <a:ext cx="2413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999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Average purchase amount per transaction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969500" y="1079500"/>
            <a:ext cx="2794000" cy="2159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9969500" y="1079500"/>
            <a:ext cx="2794000" cy="63500"/>
          </a:xfrm>
          <a:prstGeom prst="rect">
            <a:avLst/>
          </a:prstGeom>
          <a:solidFill>
            <a:srgbClr val="0D8B7D"/>
          </a:solidFill>
          <a:ln/>
        </p:spPr>
      </p:sp>
      <p:sp>
        <p:nvSpPr>
          <p:cNvPr id="22" name="Text 20"/>
          <p:cNvSpPr/>
          <p:nvPr/>
        </p:nvSpPr>
        <p:spPr>
          <a:xfrm>
            <a:off x="10160000" y="1270000"/>
            <a:ext cx="2413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b="1" dirty="0">
                <a:solidFill>
                  <a:srgbClr val="0D8B7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30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160000" y="1968500"/>
            <a:ext cx="2413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Unique Items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160000" y="2311400"/>
            <a:ext cx="2413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999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Distinct products in the catalog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3081000" y="1079500"/>
            <a:ext cx="2540000" cy="2159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13081000" y="1079500"/>
            <a:ext cx="2540000" cy="63500"/>
          </a:xfrm>
          <a:prstGeom prst="rect">
            <a:avLst/>
          </a:prstGeom>
          <a:solidFill>
            <a:srgbClr val="0D8B7D"/>
          </a:solidFill>
          <a:ln/>
        </p:spPr>
      </p:sp>
      <p:sp>
        <p:nvSpPr>
          <p:cNvPr id="27" name="Text 25"/>
          <p:cNvSpPr/>
          <p:nvPr/>
        </p:nvSpPr>
        <p:spPr>
          <a:xfrm>
            <a:off x="13271500" y="1270000"/>
            <a:ext cx="215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b="1" dirty="0">
                <a:solidFill>
                  <a:srgbClr val="0D8B7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3.62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3271500" y="1968500"/>
            <a:ext cx="2159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Avg. Rating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3271500" y="2311400"/>
            <a:ext cx="2159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999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Customer satisfaction score (1-5)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35000" y="3556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Seasonal Revenue Trend ($K)</a:t>
            </a:r>
            <a:endParaRPr lang="en-US" sz="1600" dirty="0"/>
          </a:p>
        </p:txBody>
      </p:sp>
      <p:graphicFrame>
        <p:nvGraphicFramePr>
          <p:cNvPr id="31" name="Chart 0" descr=""/>
          <p:cNvGraphicFramePr/>
          <p:nvPr/>
        </p:nvGraphicFramePr>
        <p:xfrm>
          <a:off x="635000" y="3962400"/>
          <a:ext cx="14986000" cy="4064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2" name="Text 29"/>
          <p:cNvSpPr/>
          <p:nvPr/>
        </p:nvSpPr>
        <p:spPr>
          <a:xfrm>
            <a:off x="635000" y="8382000"/>
            <a:ext cx="762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9999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Source: Power BI Dashboard — Key Metrics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0D8B7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500"/>
            <a:ext cx="16256000" cy="762000"/>
          </a:xfrm>
          <a:prstGeom prst="rect">
            <a:avLst/>
          </a:prstGeom>
          <a:solidFill>
            <a:srgbClr val="0D8B7D"/>
          </a:solidFill>
          <a:ln/>
        </p:spPr>
      </p:sp>
      <p:sp>
        <p:nvSpPr>
          <p:cNvPr id="4" name="Text 2"/>
          <p:cNvSpPr/>
          <p:nvPr/>
        </p:nvSpPr>
        <p:spPr>
          <a:xfrm>
            <a:off x="635000" y="152400"/>
            <a:ext cx="1397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Payment preferences are evenly distributed; debit card leads at 25.5%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35000" y="1016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Payment Method Distribution</a:t>
            </a:r>
            <a:endParaRPr lang="en-US" sz="16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35000" y="1422400"/>
          <a:ext cx="6096000" cy="3810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635000" y="5397500"/>
            <a:ext cx="609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0D8B7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Key Insight: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Traditional methods (Debit, Cash, Credit) account for 71.6% of all transactions, while digital payments (PayPal, Venmo) represent 24.7%.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66000" y="1016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Revenue by Gender</a:t>
            </a:r>
            <a:endParaRPr lang="en-US" sz="1600" dirty="0"/>
          </a:p>
        </p:txBody>
      </p:sp>
      <p:graphicFrame>
        <p:nvGraphicFramePr>
          <p:cNvPr id="9" name="Chart 1" descr=""/>
          <p:cNvGraphicFramePr/>
          <p:nvPr/>
        </p:nvGraphicFramePr>
        <p:xfrm>
          <a:off x="7366000" y="1422400"/>
          <a:ext cx="8255000" cy="3175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 6"/>
          <p:cNvSpPr/>
          <p:nvPr/>
        </p:nvSpPr>
        <p:spPr>
          <a:xfrm>
            <a:off x="7366000" y="4724400"/>
            <a:ext cx="825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300" b="1" dirty="0">
                <a:solidFill>
                  <a:srgbClr val="0D8B7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Insight: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Male customers contribute 39.3% of revenue ($391K), followed by Female at 35.4% ($352K) and Other at 25.3% ($251K).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7366000" y="5461000"/>
            <a:ext cx="8255000" cy="0"/>
          </a:xfrm>
          <a:prstGeom prst="straightConnector1">
            <a:avLst/>
          </a:prstGeom>
          <a:noFill/>
          <a:ln w="12700">
            <a:solidFill>
              <a:srgbClr val="DDDDDD"/>
            </a:solidFill>
            <a:prstDash val="sysDot"/>
            <a:headEnd type="none"/>
            <a:tailEnd type="none"/>
          </a:ln>
        </p:spPr>
      </p:sp>
      <p:sp>
        <p:nvSpPr>
          <p:cNvPr id="12" name="Text 8"/>
          <p:cNvSpPr/>
          <p:nvPr/>
        </p:nvSpPr>
        <p:spPr>
          <a:xfrm>
            <a:off x="7366000" y="5651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Shipping Analysis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366000" y="6096000"/>
            <a:ext cx="8255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0D8B7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4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Standard Shipping: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1,199 orders — most popular choice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0D8B7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4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Express Shipping: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Avg. $358 per order — higher value transactions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0D8B7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4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Top Locations: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New York $144K, Los Angeles $126K, Phoenix $119K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0D8B7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Express customers spend 81% more per order than standard shipping users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635000" y="8382000"/>
            <a:ext cx="14986000" cy="0"/>
          </a:xfrm>
          <a:prstGeom prst="straightConnector1">
            <a:avLst/>
          </a:prstGeom>
          <a:noFill/>
          <a:ln w="12700">
            <a:solidFill>
              <a:srgbClr val="DDDDDD"/>
            </a:solidFill>
            <a:prstDash val="solid"/>
            <a:headEnd type="none"/>
            <a:tailEnd type="none"/>
          </a:ln>
        </p:spPr>
      </p:sp>
      <p:sp>
        <p:nvSpPr>
          <p:cNvPr id="15" name="Text 11"/>
          <p:cNvSpPr/>
          <p:nvPr/>
        </p:nvSpPr>
        <p:spPr>
          <a:xfrm>
            <a:off x="635000" y="8483600"/>
            <a:ext cx="762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9999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Source: Power BI Dashboard — Payment &amp; Shipping Analysis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0D8B7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500"/>
            <a:ext cx="16256000" cy="762000"/>
          </a:xfrm>
          <a:prstGeom prst="rect">
            <a:avLst/>
          </a:prstGeom>
          <a:solidFill>
            <a:srgbClr val="0D8B7D"/>
          </a:solidFill>
          <a:ln/>
        </p:spPr>
      </p:sp>
      <p:sp>
        <p:nvSpPr>
          <p:cNvPr id="4" name="Text 2"/>
          <p:cNvSpPr/>
          <p:nvPr/>
        </p:nvSpPr>
        <p:spPr>
          <a:xfrm>
            <a:off x="635000" y="152400"/>
            <a:ext cx="1397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Six strategic insights guide focus on electronics, loyalty, and the 51+ demographic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35000" y="1079500"/>
            <a:ext cx="4826000" cy="2222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5000" y="1079500"/>
            <a:ext cx="63500" cy="2222500"/>
          </a:xfrm>
          <a:prstGeom prst="rect">
            <a:avLst/>
          </a:prstGeom>
          <a:solidFill>
            <a:srgbClr val="0D8B7D"/>
          </a:solidFill>
          <a:ln/>
        </p:spPr>
      </p:sp>
      <p:sp>
        <p:nvSpPr>
          <p:cNvPr id="7" name="Text 5"/>
          <p:cNvSpPr/>
          <p:nvPr/>
        </p:nvSpPr>
        <p:spPr>
          <a:xfrm>
            <a:off x="889000" y="1206500"/>
            <a:ext cx="889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D8B7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841500" y="1206500"/>
            <a:ext cx="3429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Electronics Dominate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89000" y="1714500"/>
            <a:ext cx="43815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Highest revenue category at 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$486K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— focus inventory and marketing efforts here. Electronics alone drives nearly half of total revenue.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15000" y="1079500"/>
            <a:ext cx="4826000" cy="2222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15000" y="1079500"/>
            <a:ext cx="63500" cy="2222500"/>
          </a:xfrm>
          <a:prstGeom prst="rect">
            <a:avLst/>
          </a:prstGeom>
          <a:solidFill>
            <a:srgbClr val="0D8B7D"/>
          </a:solidFill>
          <a:ln/>
        </p:spPr>
      </p:sp>
      <p:sp>
        <p:nvSpPr>
          <p:cNvPr id="12" name="Text 10"/>
          <p:cNvSpPr/>
          <p:nvPr/>
        </p:nvSpPr>
        <p:spPr>
          <a:xfrm>
            <a:off x="5969000" y="1206500"/>
            <a:ext cx="889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D8B7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921500" y="1206500"/>
            <a:ext cx="3429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Discounts Raise AOV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969000" y="1714500"/>
            <a:ext cx="43815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Discounted orders average 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$219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vs. $182 without — a 20% uplift. Target discount-sensitive segments strategically.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795000" y="1079500"/>
            <a:ext cx="4826000" cy="2222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795000" y="1079500"/>
            <a:ext cx="63500" cy="2222500"/>
          </a:xfrm>
          <a:prstGeom prst="rect">
            <a:avLst/>
          </a:prstGeom>
          <a:solidFill>
            <a:srgbClr val="0D8B7D"/>
          </a:solidFill>
          <a:ln/>
        </p:spPr>
      </p:sp>
      <p:sp>
        <p:nvSpPr>
          <p:cNvPr id="17" name="Text 15"/>
          <p:cNvSpPr/>
          <p:nvPr/>
        </p:nvSpPr>
        <p:spPr>
          <a:xfrm>
            <a:off x="11049000" y="1206500"/>
            <a:ext cx="889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D8B7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001500" y="1206500"/>
            <a:ext cx="3429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Loyal Customers Lead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049000" y="1714500"/>
            <a:ext cx="43815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3,085 loyal customers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(61.7%) drive the majority of repeat revenue through retention programs.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35000" y="3556000"/>
            <a:ext cx="4826000" cy="2222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5000" y="3556000"/>
            <a:ext cx="63500" cy="2222500"/>
          </a:xfrm>
          <a:prstGeom prst="rect">
            <a:avLst/>
          </a:prstGeom>
          <a:solidFill>
            <a:srgbClr val="0D8B7D"/>
          </a:solidFill>
          <a:ln/>
        </p:spPr>
      </p:sp>
      <p:sp>
        <p:nvSpPr>
          <p:cNvPr id="22" name="Text 20"/>
          <p:cNvSpPr/>
          <p:nvPr/>
        </p:nvSpPr>
        <p:spPr>
          <a:xfrm>
            <a:off x="889000" y="3683000"/>
            <a:ext cx="889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D8B7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841500" y="3683000"/>
            <a:ext cx="3429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51+ Age Group Spends Most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89000" y="4191000"/>
            <a:ext cx="43815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$399K revenue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from the 51+ demographic — the highest-spending segment at 40.2% of total revenue.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715000" y="3556000"/>
            <a:ext cx="4826000" cy="2222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715000" y="3556000"/>
            <a:ext cx="63500" cy="2222500"/>
          </a:xfrm>
          <a:prstGeom prst="rect">
            <a:avLst/>
          </a:prstGeom>
          <a:solidFill>
            <a:srgbClr val="0D8B7D"/>
          </a:solidFill>
          <a:ln/>
        </p:spPr>
      </p:sp>
      <p:sp>
        <p:nvSpPr>
          <p:cNvPr id="27" name="Text 25"/>
          <p:cNvSpPr/>
          <p:nvPr/>
        </p:nvSpPr>
        <p:spPr>
          <a:xfrm>
            <a:off x="5969000" y="3683000"/>
            <a:ext cx="889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D8B7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921500" y="3683000"/>
            <a:ext cx="3429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Subscribers Spend 63% More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969000" y="4191000"/>
            <a:ext cx="43815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$270 avg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vs. $166 for non-subscribers — subscription programs significantly boost lifetime value.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0795000" y="3556000"/>
            <a:ext cx="4826000" cy="2222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795000" y="3556000"/>
            <a:ext cx="63500" cy="2222500"/>
          </a:xfrm>
          <a:prstGeom prst="rect">
            <a:avLst/>
          </a:prstGeom>
          <a:solidFill>
            <a:srgbClr val="0D8B7D"/>
          </a:solidFill>
          <a:ln/>
        </p:spPr>
      </p:sp>
      <p:sp>
        <p:nvSpPr>
          <p:cNvPr id="32" name="Text 30"/>
          <p:cNvSpPr/>
          <p:nvPr/>
        </p:nvSpPr>
        <p:spPr>
          <a:xfrm>
            <a:off x="11049000" y="3683000"/>
            <a:ext cx="889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D8B7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2001500" y="3683000"/>
            <a:ext cx="3429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Spring Season Peaks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1049000" y="4191000"/>
            <a:ext cx="43815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Spring leads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at $244K revenue; Fall is lowest at $68K. Plan inventory and campaigns around seasonal demand cycles.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5000" y="6096000"/>
            <a:ext cx="14986000" cy="0"/>
          </a:xfrm>
          <a:prstGeom prst="straightConnector1">
            <a:avLst/>
          </a:prstGeom>
          <a:noFill/>
          <a:ln w="12700">
            <a:solidFill>
              <a:srgbClr val="DDDDDD"/>
            </a:solidFill>
            <a:prstDash val="solid"/>
            <a:headEnd type="none"/>
            <a:tailEnd type="none"/>
          </a:ln>
        </p:spPr>
      </p:sp>
      <p:sp>
        <p:nvSpPr>
          <p:cNvPr id="36" name="Text 34"/>
          <p:cNvSpPr/>
          <p:nvPr/>
        </p:nvSpPr>
        <p:spPr>
          <a:xfrm>
            <a:off x="635000" y="6286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D8B7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Strategic Recommendations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35000" y="6731000"/>
            <a:ext cx="14986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0D8B7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4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Prioritize Electronics: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Allocate marketing budget and inventory focus to the highest-revenue category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0D8B7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4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Invest in Loyalty Programs: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Subscribers spend 63% more — expand subscription offerings to boost CLV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0D8B7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4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Target 51+ Demographic: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This segment generates 40% of revenue — tailor product mix and messaging accordingly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5000" y="8382000"/>
            <a:ext cx="14986000" cy="0"/>
          </a:xfrm>
          <a:prstGeom prst="straightConnector1">
            <a:avLst/>
          </a:prstGeom>
          <a:noFill/>
          <a:ln w="12700">
            <a:solidFill>
              <a:srgbClr val="DDDDDD"/>
            </a:solidFill>
            <a:prstDash val="solid"/>
            <a:headEnd type="none"/>
            <a:tailEnd type="none"/>
          </a:ln>
        </p:spPr>
      </p:sp>
      <p:sp>
        <p:nvSpPr>
          <p:cNvPr id="39" name="Text 37"/>
          <p:cNvSpPr/>
          <p:nvPr/>
        </p:nvSpPr>
        <p:spPr>
          <a:xfrm>
            <a:off x="635000" y="8483600"/>
            <a:ext cx="762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9999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Source: Customer Behaviour Analysis — Key Takeaways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96000" cy="9144000"/>
          </a:xfrm>
          <a:prstGeom prst="rect">
            <a:avLst/>
          </a:prstGeom>
          <a:solidFill>
            <a:srgbClr val="0D8B7D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2794000"/>
            <a:ext cx="457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62000" y="4064000"/>
            <a:ext cx="1778000" cy="0"/>
          </a:xfrm>
          <a:prstGeom prst="straightConnector1">
            <a:avLst/>
          </a:prstGeom>
          <a:noFill/>
          <a:ln w="25400">
            <a:solidFill>
              <a:srgbClr val="FFFFFF">
                <a:alpha val="50196"/>
              </a:srgbClr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762000" y="4318000"/>
            <a:ext cx="4572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Data-driven insights for customer behavior optimization and revenue growth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112000" y="2540000"/>
            <a:ext cx="762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Key Insights Summary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112000" y="3111500"/>
            <a:ext cx="3810000" cy="0"/>
          </a:xfrm>
          <a:prstGeom prst="straightConnector1">
            <a:avLst/>
          </a:prstGeom>
          <a:noFill/>
          <a:ln w="25400">
            <a:solidFill>
              <a:srgbClr val="0D8B7D"/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7112000" y="3429000"/>
            <a:ext cx="8255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$994K Total Revenue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across 5,000 customers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$486K from Electronics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— leading category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3,085 Loyal Customers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driving repeat revenue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63% Higher Spend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from subscribers vs. non-subscribers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112000" y="6096000"/>
            <a:ext cx="8255000" cy="1270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0" name="Text 8"/>
          <p:cNvSpPr/>
          <p:nvPr/>
        </p:nvSpPr>
        <p:spPr>
          <a:xfrm>
            <a:off x="7366000" y="6248400"/>
            <a:ext cx="7747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Analysis Methods: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Python EDA, SQL Queries, Power BI Dashboard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Dataset: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Retail/E-commerce Customer Transaction Data (5,000 records)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096000" y="9067800"/>
            <a:ext cx="10160000" cy="76200"/>
          </a:xfrm>
          <a:prstGeom prst="rect">
            <a:avLst/>
          </a:prstGeom>
          <a:solidFill>
            <a:srgbClr val="0D8B7D"/>
          </a:solidFill>
          <a:ln/>
        </p:spPr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Behaviour Analysis</dc:title>
  <dc:subject>Customer Behaviour Analysis</dc:subject>
  <dc:creator>Kimi</dc:creator>
  <cp:lastModifiedBy>Kimi</cp:lastModifiedBy>
  <cp:revision>1</cp:revision>
  <dcterms:created xsi:type="dcterms:W3CDTF">2026-05-10T11:42:32Z</dcterms:created>
  <dcterms:modified xsi:type="dcterms:W3CDTF">2026-05-10T11:42:32Z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{"Label":"Customer Behaviour Analysis","ContentProducer":"001191110108MACG2KBH8F10000","ProduceID":"19e11acf-b702-8828-8000-0000ca669390","ReservedCode1":"","ContentPropagator":"001191110108MACG2KBH8F20000","PropagateID":"19e11acf-b702-8828-8000-0000ca669390","ReservedCode2":""}</vt:lpwstr>
  </property>
</Properties>
</file>